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photoAlbum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303FE-A081-430D-8596-E2AFAEA79FF5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5F29F-C6D2-44AB-A6D4-575FC0FAF01C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72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303FE-A081-430D-8596-E2AFAEA79FF5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5F29F-C6D2-44AB-A6D4-575FC0FAF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181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303FE-A081-430D-8596-E2AFAEA79FF5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5F29F-C6D2-44AB-A6D4-575FC0FAF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596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303FE-A081-430D-8596-E2AFAEA79FF5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5F29F-C6D2-44AB-A6D4-575FC0FAF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61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303FE-A081-430D-8596-E2AFAEA79FF5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5F29F-C6D2-44AB-A6D4-575FC0FAF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518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303FE-A081-430D-8596-E2AFAEA79FF5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5F29F-C6D2-44AB-A6D4-575FC0FAF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3684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303FE-A081-430D-8596-E2AFAEA79FF5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5F29F-C6D2-44AB-A6D4-575FC0FAF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010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303FE-A081-430D-8596-E2AFAEA79FF5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5F29F-C6D2-44AB-A6D4-575FC0FAF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0298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303FE-A081-430D-8596-E2AFAEA79FF5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5F29F-C6D2-44AB-A6D4-575FC0FAF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292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303FE-A081-430D-8596-E2AFAEA79FF5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5F29F-C6D2-44AB-A6D4-575FC0FAF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1323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303FE-A081-430D-8596-E2AFAEA79FF5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5F29F-C6D2-44AB-A6D4-575FC0FAF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8978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303FE-A081-430D-8596-E2AFAEA79FF5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5F29F-C6D2-44AB-A6D4-575FC0FAF01C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285519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303FE-A081-430D-8596-E2AFAEA79FF5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5F29F-C6D2-44AB-A6D4-575FC0FAF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078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303FE-A081-430D-8596-E2AFAEA79FF5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5F29F-C6D2-44AB-A6D4-575FC0FAF01C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644998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303FE-A081-430D-8596-E2AFAEA79FF5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5F29F-C6D2-44AB-A6D4-575FC0FAF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9889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303FE-A081-430D-8596-E2AFAEA79FF5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5F29F-C6D2-44AB-A6D4-575FC0FAF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9008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303FE-A081-430D-8596-E2AFAEA79FF5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5F29F-C6D2-44AB-A6D4-575FC0FAF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0306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D8303FE-A081-430D-8596-E2AFAEA79FF5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C95F29F-C6D2-44AB-A6D4-575FC0FAF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9200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people around a device">
            <a:extLst>
              <a:ext uri="{FF2B5EF4-FFF2-40B4-BE49-F238E27FC236}">
                <a16:creationId xmlns:a16="http://schemas.microsoft.com/office/drawing/2014/main" id="{81869B18-B763-2DF0-F88A-52FE51570D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5923" y="308568"/>
            <a:ext cx="4237752" cy="282516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8" name="Picture 7" descr="A logo for a company&#10;&#10;AI-generated content may be incorrect.">
            <a:extLst>
              <a:ext uri="{FF2B5EF4-FFF2-40B4-BE49-F238E27FC236}">
                <a16:creationId xmlns:a16="http://schemas.microsoft.com/office/drawing/2014/main" id="{3DB4F0AE-AD9E-093E-61A7-AF7FD6BDF50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bg2">
                <a:lumMod val="60000"/>
                <a:lumOff val="4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MosiaicBubbl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87" y="204172"/>
            <a:ext cx="1470579" cy="1477144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7F39489-D2E8-5B82-66AE-C6699C2D23D7}"/>
              </a:ext>
            </a:extLst>
          </p:cNvPr>
          <p:cNvSpPr txBox="1"/>
          <p:nvPr/>
        </p:nvSpPr>
        <p:spPr>
          <a:xfrm>
            <a:off x="324464" y="3325664"/>
            <a:ext cx="8863782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h="25400" prst="softRound"/>
            </a:sp3d>
          </a:bodyPr>
          <a:lstStyle/>
          <a:p>
            <a:r>
              <a:rPr lang="en-US" sz="4800" dirty="0">
                <a:ln w="0"/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Franklin Gothic Heavy" panose="020B0903020102020204" pitchFamily="34" charset="0"/>
              </a:rPr>
              <a:t>Wavecon Telecom 5G Analysis</a:t>
            </a:r>
            <a:endParaRPr lang="en-IN" sz="4800" dirty="0">
              <a:ln w="0"/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</a:effectLst>
              <a:latin typeface="Franklin Gothic Heavy" panose="020B09030201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25B9C5-8744-C625-EDBE-50329206D5E3}"/>
              </a:ext>
            </a:extLst>
          </p:cNvPr>
          <p:cNvSpPr txBox="1"/>
          <p:nvPr/>
        </p:nvSpPr>
        <p:spPr>
          <a:xfrm>
            <a:off x="8042835" y="6224093"/>
            <a:ext cx="2934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Arial Rounded MT Bold" panose="020F070403050403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Tirunagari Deepthi</a:t>
            </a:r>
            <a:endParaRPr lang="en-IN" sz="2000" dirty="0">
              <a:solidFill>
                <a:schemeClr val="tx2">
                  <a:lumMod val="75000"/>
                </a:schemeClr>
              </a:soli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  <a:latin typeface="Arial Rounded MT Bold" panose="020F070403050403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18" name="Picture 17" descr="A person smiling at the camera&#10;&#10;AI-generated content may be incorrect.">
            <a:extLst>
              <a:ext uri="{FF2B5EF4-FFF2-40B4-BE49-F238E27FC236}">
                <a16:creationId xmlns:a16="http://schemas.microsoft.com/office/drawing/2014/main" id="{4C083B49-C7A0-928C-FB5D-26C3CCFA6C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5761" y="4837471"/>
            <a:ext cx="1515397" cy="202052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AF64FD4-493B-52FB-5BE3-E55091192DB3}"/>
              </a:ext>
            </a:extLst>
          </p:cNvPr>
          <p:cNvSpPr txBox="1"/>
          <p:nvPr/>
        </p:nvSpPr>
        <p:spPr>
          <a:xfrm>
            <a:off x="6840690" y="4137280"/>
            <a:ext cx="3379943" cy="369332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Impact Of 5G Launch</a:t>
            </a: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0171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2311">
        <p15:prstTrans prst="peelOff"/>
      </p:transition>
    </mc:Choice>
    <mc:Fallback xmlns="">
      <p:transition spd="slow" advTm="2311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25D189-72B8-FFFE-9CA9-C5E112A55E84}"/>
              </a:ext>
            </a:extLst>
          </p:cNvPr>
          <p:cNvSpPr txBox="1"/>
          <p:nvPr/>
        </p:nvSpPr>
        <p:spPr>
          <a:xfrm>
            <a:off x="3569110" y="1858297"/>
            <a:ext cx="4748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7EB9B0-CAB3-039C-C441-018B064CD1E7}"/>
              </a:ext>
            </a:extLst>
          </p:cNvPr>
          <p:cNvSpPr txBox="1"/>
          <p:nvPr/>
        </p:nvSpPr>
        <p:spPr>
          <a:xfrm>
            <a:off x="235974" y="1814052"/>
            <a:ext cx="6666271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ptos Display" panose="020B0004020202020204" pitchFamily="34" charset="0"/>
              </a:rPr>
              <a:t>Wavecon Telecom</a:t>
            </a:r>
            <a:r>
              <a:rPr lang="en-US" sz="2400" dirty="0">
                <a:latin typeface="Aptos Display" panose="020B0004020202020204" pitchFamily="34" charset="0"/>
              </a:rPr>
              <a:t> is a forward-looking telecommunications company delivering high-quality mobile and data services across diverse markets.</a:t>
            </a:r>
          </a:p>
          <a:p>
            <a:endParaRPr lang="en-US" dirty="0">
              <a:latin typeface="Aptos Display" panose="020B0004020202020204" pitchFamily="34" charset="0"/>
            </a:endParaRPr>
          </a:p>
          <a:p>
            <a:r>
              <a:rPr lang="en-US" sz="2400" dirty="0">
                <a:latin typeface="Aptos Display" panose="020B0004020202020204" pitchFamily="34" charset="0"/>
              </a:rPr>
              <a:t> With the launch of </a:t>
            </a:r>
            <a:r>
              <a:rPr lang="en-US" sz="2400" b="1" dirty="0">
                <a:latin typeface="Aptos Display" panose="020B0004020202020204" pitchFamily="34" charset="0"/>
              </a:rPr>
              <a:t>5G technology</a:t>
            </a:r>
            <a:r>
              <a:rPr lang="en-US" sz="2400" dirty="0">
                <a:latin typeface="Aptos Display" panose="020B0004020202020204" pitchFamily="34" charset="0"/>
              </a:rPr>
              <a:t>, Wavecon is strengthening its network capabilities to enable faster connectivity, advanced digital experiences, and sustainable business growth.</a:t>
            </a:r>
            <a:endParaRPr lang="en-IN" sz="2400" dirty="0">
              <a:latin typeface="Aptos Display" panose="020B0004020202020204" pitchFamily="34" charset="0"/>
            </a:endParaRPr>
          </a:p>
        </p:txBody>
      </p:sp>
      <p:pic>
        <p:nvPicPr>
          <p:cNvPr id="7" name="Picture 6" descr="A city with lights and text">
            <a:extLst>
              <a:ext uri="{FF2B5EF4-FFF2-40B4-BE49-F238E27FC236}">
                <a16:creationId xmlns:a16="http://schemas.microsoft.com/office/drawing/2014/main" id="{C90B22B1-6E44-8134-C9D9-F07F54B55E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741" y="1386349"/>
            <a:ext cx="4852219" cy="4144296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6DFB54-00D8-0D4E-9CB1-78C5B2061F4F}"/>
              </a:ext>
            </a:extLst>
          </p:cNvPr>
          <p:cNvSpPr txBox="1"/>
          <p:nvPr/>
        </p:nvSpPr>
        <p:spPr>
          <a:xfrm>
            <a:off x="609907" y="781665"/>
            <a:ext cx="5068222" cy="400110"/>
          </a:xfrm>
          <a:prstGeom prst="rect">
            <a:avLst/>
          </a:prstGeom>
          <a:noFill/>
        </p:spPr>
        <p:txBody>
          <a:bodyPr wrap="square" rtlCol="0">
            <a:prstTxWarp prst="textPlain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FFFF00"/>
                </a:solidFill>
                <a:latin typeface="Arial Black" panose="020B0A04020102020204" pitchFamily="34" charset="0"/>
              </a:rPr>
              <a:t>Introduction Of Wavecon Telecom</a:t>
            </a:r>
            <a:endParaRPr lang="en-IN" sz="20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750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with blue lights">
            <a:extLst>
              <a:ext uri="{FF2B5EF4-FFF2-40B4-BE49-F238E27FC236}">
                <a16:creationId xmlns:a16="http://schemas.microsoft.com/office/drawing/2014/main" id="{2BE854E9-1040-C479-92F0-410EE7E598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917" y="1651819"/>
            <a:ext cx="4247536" cy="346587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D1332A-3D80-3748-3916-9132DFDD7EF4}"/>
              </a:ext>
            </a:extLst>
          </p:cNvPr>
          <p:cNvSpPr txBox="1"/>
          <p:nvPr/>
        </p:nvSpPr>
        <p:spPr>
          <a:xfrm>
            <a:off x="486696" y="845781"/>
            <a:ext cx="3008671" cy="383457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Arial Black" panose="020B0A04020102020204" pitchFamily="34" charset="0"/>
              </a:rPr>
              <a:t>Business Objective</a:t>
            </a:r>
            <a:endParaRPr lang="en-IN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2EEDF9-0FC5-D38E-C611-751BBEB30809}"/>
              </a:ext>
            </a:extLst>
          </p:cNvPr>
          <p:cNvSpPr txBox="1"/>
          <p:nvPr/>
        </p:nvSpPr>
        <p:spPr>
          <a:xfrm>
            <a:off x="929148" y="2256504"/>
            <a:ext cx="2182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1E079C0-B682-5B3D-F795-EC7D2E550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696" y="1443841"/>
            <a:ext cx="632705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Wavecon Telecom launched 5G services in India in May 2022 across 15 major cities to deliver faster connectivity. This project analyzes the impact of the 5G launch on: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Revenue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Active users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Service plans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ptos Display" panose="020B0004020202020204" pitchFamily="34" charset="0"/>
              </a:rPr>
              <a:t>Objective: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To assess business growth and customer adoption after 5G.</a:t>
            </a:r>
          </a:p>
        </p:txBody>
      </p:sp>
    </p:spTree>
    <p:extLst>
      <p:ext uri="{BB962C8B-B14F-4D97-AF65-F5344CB8AC3E}">
        <p14:creationId xmlns:p14="http://schemas.microsoft.com/office/powerpoint/2010/main" val="3628222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3C8D8D-FEDD-6B73-6223-8E0A3996566B}"/>
              </a:ext>
            </a:extLst>
          </p:cNvPr>
          <p:cNvSpPr txBox="1"/>
          <p:nvPr/>
        </p:nvSpPr>
        <p:spPr>
          <a:xfrm>
            <a:off x="471949" y="1017639"/>
            <a:ext cx="6164825" cy="5707626"/>
          </a:xfrm>
          <a:prstGeom prst="rect">
            <a:avLst/>
          </a:prstGeom>
          <a:noFill/>
        </p:spPr>
        <p:txBody>
          <a:bodyPr wrap="square" rtlCol="0">
            <a:prstTxWarp prst="textPlain">
              <a:avLst/>
            </a:prstTxWarp>
            <a:spAutoFit/>
          </a:bodyPr>
          <a:lstStyle/>
          <a:p>
            <a:pPr algn="just"/>
            <a:endParaRPr lang="en-US" sz="900" b="1" dirty="0">
              <a:solidFill>
                <a:srgbClr val="FFFF00"/>
              </a:solidFill>
              <a:latin typeface="Arial Black" panose="020B0A04020102020204" pitchFamily="34" charset="0"/>
            </a:endParaRPr>
          </a:p>
          <a:p>
            <a:pPr algn="just"/>
            <a:endParaRPr lang="en-US" sz="800" b="1" dirty="0">
              <a:solidFill>
                <a:srgbClr val="FFFF00"/>
              </a:solidFill>
              <a:latin typeface="Aptos Display" panose="020B0004020202020204" pitchFamily="34" charset="0"/>
            </a:endParaRPr>
          </a:p>
          <a:p>
            <a:pPr algn="just"/>
            <a:r>
              <a:rPr lang="en-US" b="1" dirty="0">
                <a:solidFill>
                  <a:srgbClr val="FFFF00"/>
                </a:solidFill>
                <a:latin typeface="Aptos Display" panose="020B0004020202020204" pitchFamily="34" charset="0"/>
              </a:rPr>
              <a:t>Dashboard Scope:</a:t>
            </a:r>
          </a:p>
          <a:p>
            <a:pPr algn="just"/>
            <a:endParaRPr lang="en-US" b="1" dirty="0">
              <a:latin typeface="Aptos Display" panose="020B00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>
                <a:latin typeface="Aptos Display" panose="020B0004020202020204" pitchFamily="34" charset="0"/>
              </a:rPr>
              <a:t> The dashboard analyzes service plans and key business performance metrics.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>
                <a:latin typeface="Aptos Display" panose="020B0004020202020204" pitchFamily="34" charset="0"/>
              </a:rPr>
              <a:t> Focuses on 4 critical KPIs to measure 5G impact:</a:t>
            </a:r>
          </a:p>
          <a:p>
            <a:pPr algn="just"/>
            <a:endParaRPr lang="en-US" sz="1200" dirty="0">
              <a:latin typeface="Aptos Display" panose="020B0004020202020204" pitchFamily="3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Revenue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ARPU (Average Revenue Per User)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TAU (Total Active Users)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TUSU (Total Unsubscribed Users)</a:t>
            </a:r>
          </a:p>
          <a:p>
            <a:pPr lvl="1" algn="just"/>
            <a:endParaRPr lang="en-US" dirty="0">
              <a:latin typeface="Aptos Display" panose="020B0004020202020204" pitchFamily="34" charset="0"/>
            </a:endParaRPr>
          </a:p>
          <a:p>
            <a:pPr algn="just"/>
            <a:r>
              <a:rPr lang="en-US" b="1" dirty="0">
                <a:solidFill>
                  <a:srgbClr val="FFFF00"/>
                </a:solidFill>
                <a:latin typeface="Aptos Display" panose="020B0004020202020204" pitchFamily="34" charset="0"/>
              </a:rPr>
              <a:t>Time Period Covered:</a:t>
            </a:r>
          </a:p>
          <a:p>
            <a:pPr algn="just"/>
            <a:endParaRPr lang="en-US" b="1" dirty="0">
              <a:latin typeface="Aptos Display" panose="020B00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latin typeface="Aptos Display" panose="020B0004020202020204" pitchFamily="34" charset="0"/>
              </a:rPr>
              <a:t> </a:t>
            </a:r>
            <a:r>
              <a:rPr lang="en-US" dirty="0">
                <a:latin typeface="Aptos Display" panose="020B0004020202020204" pitchFamily="34" charset="0"/>
              </a:rPr>
              <a:t>8-month analysis window</a:t>
            </a:r>
          </a:p>
          <a:p>
            <a:pPr algn="just"/>
            <a:endParaRPr lang="en-US" sz="1100" dirty="0">
              <a:latin typeface="Aptos Display" panose="020B0004020202020204" pitchFamily="3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Aptos Display" panose="020B0004020202020204" pitchFamily="34" charset="0"/>
              </a:rPr>
              <a:t>Before 5G:</a:t>
            </a:r>
            <a:r>
              <a:rPr lang="en-US" dirty="0">
                <a:latin typeface="Aptos Display" panose="020B0004020202020204" pitchFamily="34" charset="0"/>
              </a:rPr>
              <a:t> January to April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Aptos Display" panose="020B0004020202020204" pitchFamily="34" charset="0"/>
              </a:rPr>
              <a:t>After 5G:</a:t>
            </a:r>
            <a:r>
              <a:rPr lang="en-US" dirty="0">
                <a:latin typeface="Aptos Display" panose="020B0004020202020204" pitchFamily="34" charset="0"/>
              </a:rPr>
              <a:t> June to September</a:t>
            </a:r>
          </a:p>
          <a:p>
            <a:pPr lvl="1" algn="just"/>
            <a:endParaRPr lang="en-US" dirty="0">
              <a:latin typeface="Aptos Display" panose="020B0004020202020204" pitchFamily="34" charset="0"/>
            </a:endParaRPr>
          </a:p>
          <a:p>
            <a:pPr algn="just"/>
            <a:r>
              <a:rPr lang="en-US" b="1" dirty="0">
                <a:solidFill>
                  <a:srgbClr val="FFFF00"/>
                </a:solidFill>
                <a:latin typeface="Aptos Display" panose="020B0004020202020204" pitchFamily="34" charset="0"/>
              </a:rPr>
              <a:t>Purpose of Analysis:</a:t>
            </a:r>
          </a:p>
          <a:p>
            <a:pPr algn="just"/>
            <a:endParaRPr lang="en-US" b="1" dirty="0">
              <a:latin typeface="Aptos Display" panose="020B00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>
                <a:latin typeface="Aptos Display" panose="020B0004020202020204" pitchFamily="34" charset="0"/>
              </a:rPr>
              <a:t>To compare performance before and after the 5G launch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>
                <a:latin typeface="Aptos Display" panose="020B0004020202020204" pitchFamily="34" charset="0"/>
              </a:rPr>
              <a:t>To understand trends in revenue, users, and customer behavior</a:t>
            </a:r>
          </a:p>
          <a:p>
            <a:pPr algn="just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046E29-EEB0-BEF5-DF03-F54065CB5BAE}"/>
              </a:ext>
            </a:extLst>
          </p:cNvPr>
          <p:cNvSpPr txBox="1"/>
          <p:nvPr/>
        </p:nvSpPr>
        <p:spPr>
          <a:xfrm>
            <a:off x="471949" y="648307"/>
            <a:ext cx="4211538" cy="369332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algn="just"/>
            <a:r>
              <a:rPr lang="en-US" b="1" dirty="0">
                <a:solidFill>
                  <a:srgbClr val="FFFF00"/>
                </a:solidFill>
                <a:latin typeface="Arial Black" panose="020B0A04020102020204" pitchFamily="34" charset="0"/>
              </a:rPr>
              <a:t>Performance Analysis Overview</a:t>
            </a:r>
          </a:p>
        </p:txBody>
      </p:sp>
      <p:pic>
        <p:nvPicPr>
          <p:cNvPr id="5" name="Picture 4" descr="A screenshot of a computer">
            <a:extLst>
              <a:ext uri="{FF2B5EF4-FFF2-40B4-BE49-F238E27FC236}">
                <a16:creationId xmlns:a16="http://schemas.microsoft.com/office/drawing/2014/main" id="{4E66212A-9C58-505E-5695-8EA1DC61A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8468" y="108335"/>
            <a:ext cx="4270524" cy="319142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 descr="A screenshot of a computer">
            <a:extLst>
              <a:ext uri="{FF2B5EF4-FFF2-40B4-BE49-F238E27FC236}">
                <a16:creationId xmlns:a16="http://schemas.microsoft.com/office/drawing/2014/main" id="{576DDBE0-34E0-CD15-D48E-DCCBC0C734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8468" y="3558242"/>
            <a:ext cx="4270525" cy="316702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27925789"/>
      </p:ext>
    </p:extLst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1C8AED-9836-4452-EC01-97AA293CDC4D}"/>
              </a:ext>
            </a:extLst>
          </p:cNvPr>
          <p:cNvSpPr txBox="1"/>
          <p:nvPr/>
        </p:nvSpPr>
        <p:spPr>
          <a:xfrm>
            <a:off x="422738" y="353962"/>
            <a:ext cx="2521974" cy="486698"/>
          </a:xfrm>
          <a:prstGeom prst="rect">
            <a:avLst/>
          </a:prstGeom>
          <a:noFill/>
        </p:spPr>
        <p:txBody>
          <a:bodyPr wrap="square" rtlCol="0">
            <a:prstTxWarp prst="textPlain">
              <a:avLst/>
            </a:prstTxWarp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Arial Black" panose="020B0A04020102020204" pitchFamily="34" charset="0"/>
              </a:rPr>
              <a:t>Key Findings</a:t>
            </a:r>
            <a:endParaRPr lang="en-IN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8190E3-69C3-59F0-0EEE-C19615CC6394}"/>
              </a:ext>
            </a:extLst>
          </p:cNvPr>
          <p:cNvSpPr txBox="1"/>
          <p:nvPr/>
        </p:nvSpPr>
        <p:spPr>
          <a:xfrm>
            <a:off x="191729" y="942545"/>
            <a:ext cx="72533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ptos Display" panose="020B0004020202020204" pitchFamily="34" charset="0"/>
              </a:rPr>
              <a:t>1. What is the impact of the 5G launch on our revenue?</a:t>
            </a:r>
            <a:endParaRPr lang="en-IN" sz="2400" b="1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D7E75A6-2933-1210-4D75-8229E27CE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729" y="1348284"/>
            <a:ext cx="6666271" cy="5601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ptos Display" panose="020B0004020202020204" pitchFamily="34" charset="0"/>
              </a:rPr>
              <a:t>Overall Revenue Change: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−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ptos Display" panose="020B0004020202020204" pitchFamily="34" charset="0"/>
              </a:rPr>
              <a:t>0.5%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ptos Display" panose="020B00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after the 5G launch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Before 5G: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₹15.98 bn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After 5G: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₹15.90 bn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ptos Display" panose="020B0004020202020204" pitchFamily="34" charset="0"/>
              </a:rPr>
              <a:t>Cities with Revenue Increase (%):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Aptos Display" panose="020B00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Lucknow: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+1.82%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Gurgaon: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+1.51%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Patna: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+1.48%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Jaipur: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+0.98%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ptos Display" panose="020B0004020202020204" pitchFamily="34" charset="0"/>
              </a:rPr>
              <a:t>Cities with Revenue Decrease (%):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Aptos Display" panose="020B00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Ahmedabad: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−2.02%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Chennai: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−2.59%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Delhi: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−2.83%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400" b="1" dirty="0">
              <a:latin typeface="Aptos Display" panose="020B00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ptos Display" panose="020B0004020202020204" pitchFamily="34" charset="0"/>
              </a:rPr>
              <a:t>Conclusion : </a:t>
            </a:r>
            <a:r>
              <a:rPr lang="en-US" sz="2000" dirty="0">
                <a:latin typeface="Aptos Display" panose="020B0004020202020204" pitchFamily="34" charset="0"/>
              </a:rPr>
              <a:t>Overall revenue declined slightly by </a:t>
            </a:r>
            <a:r>
              <a:rPr lang="en-US" sz="2000" b="1" dirty="0">
                <a:highlight>
                  <a:srgbClr val="FF0000"/>
                </a:highlight>
                <a:latin typeface="Aptos Display" panose="020B0004020202020204" pitchFamily="34" charset="0"/>
              </a:rPr>
              <a:t>0.5%</a:t>
            </a:r>
            <a:r>
              <a:rPr lang="en-US" sz="2000" dirty="0">
                <a:highlight>
                  <a:srgbClr val="FF0000"/>
                </a:highlight>
                <a:latin typeface="Aptos Display" panose="020B0004020202020204" pitchFamily="34" charset="0"/>
              </a:rPr>
              <a:t>, </a:t>
            </a:r>
            <a:r>
              <a:rPr lang="en-US" sz="2000" dirty="0">
                <a:latin typeface="Aptos Display" panose="020B0004020202020204" pitchFamily="34" charset="0"/>
              </a:rPr>
              <a:t>with mixed city-wise performance showing both growth and decline after the 5G launch.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 descr="A close up of a number">
            <a:extLst>
              <a:ext uri="{FF2B5EF4-FFF2-40B4-BE49-F238E27FC236}">
                <a16:creationId xmlns:a16="http://schemas.microsoft.com/office/drawing/2014/main" id="{4A41E011-49CA-E882-9EE4-D2AC08E4DFD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2">
                <a:lumMod val="60000"/>
                <a:lumOff val="4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5061" y="726872"/>
            <a:ext cx="4555210" cy="12428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Picture 10" descr="A screenshot of a graph&#10;&#10;AI-generated content may be incorrect.">
            <a:extLst>
              <a:ext uri="{FF2B5EF4-FFF2-40B4-BE49-F238E27FC236}">
                <a16:creationId xmlns:a16="http://schemas.microsoft.com/office/drawing/2014/main" id="{2747E2B1-F227-A3D3-97A6-EF8BE9CE81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2375435"/>
            <a:ext cx="5142271" cy="3996812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1219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D5B08F-F4EB-47A1-E4E4-F2A95C9737E4}"/>
              </a:ext>
            </a:extLst>
          </p:cNvPr>
          <p:cNvSpPr txBox="1"/>
          <p:nvPr/>
        </p:nvSpPr>
        <p:spPr>
          <a:xfrm>
            <a:off x="250722" y="707921"/>
            <a:ext cx="69169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ptos Display" panose="020B0004020202020204" pitchFamily="34" charset="0"/>
              </a:rPr>
              <a:t>2.Which KPI is underperforming after the 5G launch?</a:t>
            </a:r>
            <a:endParaRPr lang="en-IN" sz="2400" b="1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FBB6CF60-9A25-D76A-6BE1-ED417C477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723" y="1964353"/>
            <a:ext cx="6445046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b="1" dirty="0">
                <a:latin typeface="Aptos Display" panose="020B0004020202020204" pitchFamily="34" charset="0"/>
              </a:rPr>
              <a:t>💰 </a:t>
            </a:r>
            <a:r>
              <a:rPr lang="en-IN" sz="2000" b="1" dirty="0">
                <a:solidFill>
                  <a:srgbClr val="FFFF00"/>
                </a:solidFill>
                <a:latin typeface="Aptos Display" panose="020B0004020202020204" pitchFamily="34" charset="0"/>
              </a:rPr>
              <a:t>Revenue (Stable)</a:t>
            </a:r>
          </a:p>
          <a:p>
            <a:endParaRPr lang="en-IN" b="1" dirty="0">
              <a:solidFill>
                <a:srgbClr val="FFFF00"/>
              </a:solidFill>
              <a:latin typeface="Aptos Display" panose="020B00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Aptos Display" panose="020B0004020202020204" pitchFamily="34" charset="0"/>
              </a:rPr>
              <a:t>Before 5G:</a:t>
            </a:r>
            <a:r>
              <a:rPr lang="en-IN" sz="2000" dirty="0">
                <a:latin typeface="Aptos Display" panose="020B0004020202020204" pitchFamily="34" charset="0"/>
              </a:rPr>
              <a:t> ₹15.97 bn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Aptos Display" panose="020B0004020202020204" pitchFamily="34" charset="0"/>
              </a:rPr>
              <a:t>After 5G:</a:t>
            </a:r>
            <a:r>
              <a:rPr lang="en-IN" sz="2000" dirty="0">
                <a:latin typeface="Aptos Display" panose="020B0004020202020204" pitchFamily="34" charset="0"/>
              </a:rPr>
              <a:t> ₹15.90 bn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Aptos Display" panose="020B0004020202020204" pitchFamily="34" charset="0"/>
              </a:rPr>
              <a:t>Change:</a:t>
            </a:r>
            <a:r>
              <a:rPr lang="en-IN" sz="2000" dirty="0">
                <a:latin typeface="Aptos Display" panose="020B0004020202020204" pitchFamily="34" charset="0"/>
              </a:rPr>
              <a:t> </a:t>
            </a:r>
            <a:r>
              <a:rPr lang="en-IN" sz="2000" b="1" dirty="0">
                <a:latin typeface="Aptos Display" panose="020B0004020202020204" pitchFamily="34" charset="0"/>
              </a:rPr>
              <a:t>−</a:t>
            </a:r>
            <a:r>
              <a:rPr lang="en-IN" sz="2000" b="1" dirty="0">
                <a:highlight>
                  <a:srgbClr val="FF0000"/>
                </a:highlight>
                <a:latin typeface="Aptos Display" panose="020B0004020202020204" pitchFamily="34" charset="0"/>
              </a:rPr>
              <a:t>0.50%</a:t>
            </a:r>
          </a:p>
          <a:p>
            <a:endParaRPr lang="en-IN" dirty="0">
              <a:latin typeface="Aptos Display" panose="020B00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rgbClr val="FFFF00"/>
                </a:solidFill>
                <a:latin typeface="Aptos Display" panose="020B0004020202020204" pitchFamily="34" charset="0"/>
              </a:rPr>
              <a:t>Insight:</a:t>
            </a:r>
            <a:r>
              <a:rPr lang="en-IN" sz="2000" dirty="0">
                <a:solidFill>
                  <a:srgbClr val="FFFF00"/>
                </a:solidFill>
                <a:latin typeface="Aptos Display" panose="020B0004020202020204" pitchFamily="34" charset="0"/>
              </a:rPr>
              <a:t> </a:t>
            </a:r>
            <a:r>
              <a:rPr lang="en-IN" sz="2000" dirty="0">
                <a:latin typeface="Aptos Display" panose="020B0004020202020204" pitchFamily="34" charset="0"/>
              </a:rPr>
              <a:t>Overall revenue remained almost stable after 5G.</a:t>
            </a:r>
          </a:p>
          <a:p>
            <a:endParaRPr lang="en-IN" dirty="0">
              <a:latin typeface="Aptos Display" panose="020B00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rgbClr val="FFFF00"/>
                </a:solidFill>
                <a:latin typeface="Aptos Display" panose="020B0004020202020204" pitchFamily="34" charset="0"/>
              </a:rPr>
              <a:t>City Impact:</a:t>
            </a:r>
          </a:p>
          <a:p>
            <a:endParaRPr lang="en-IN" dirty="0">
              <a:solidFill>
                <a:srgbClr val="FFFF00"/>
              </a:solidFill>
              <a:latin typeface="Aptos Display" panose="020B000402020202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Aptos Display" panose="020B0004020202020204" pitchFamily="34" charset="0"/>
              </a:rPr>
              <a:t>Revenue Decline:</a:t>
            </a:r>
            <a:r>
              <a:rPr lang="en-IN" sz="2000" dirty="0">
                <a:latin typeface="Aptos Display" panose="020B0004020202020204" pitchFamily="34" charset="0"/>
              </a:rPr>
              <a:t> Delhi (−2.83%), Chennai (−2.59%), Ahmedabad (−2.02%)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Aptos Display" panose="020B0004020202020204" pitchFamily="34" charset="0"/>
              </a:rPr>
              <a:t>Revenue Growth:</a:t>
            </a:r>
            <a:r>
              <a:rPr lang="en-IN" sz="2000" dirty="0">
                <a:latin typeface="Aptos Display" panose="020B0004020202020204" pitchFamily="34" charset="0"/>
              </a:rPr>
              <a:t> Lucknow (+1.82%), Gurgaon (+1.51%), Patna (+1.48%)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</p:txBody>
      </p:sp>
      <p:pic>
        <p:nvPicPr>
          <p:cNvPr id="12" name="Picture 11" descr="A close up of a number">
            <a:extLst>
              <a:ext uri="{FF2B5EF4-FFF2-40B4-BE49-F238E27FC236}">
                <a16:creationId xmlns:a16="http://schemas.microsoft.com/office/drawing/2014/main" id="{F3701065-1BDB-0A67-738F-E01D10F414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2">
                <a:lumMod val="60000"/>
                <a:lumOff val="4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7716" y="1154734"/>
            <a:ext cx="4715533" cy="7861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7D37EB8-E4B4-8CF7-D625-EE338A8067AA}"/>
              </a:ext>
            </a:extLst>
          </p:cNvPr>
          <p:cNvSpPr txBox="1"/>
          <p:nvPr/>
        </p:nvSpPr>
        <p:spPr>
          <a:xfrm>
            <a:off x="750529" y="1564243"/>
            <a:ext cx="50398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ptos Display" panose="020B0004020202020204" pitchFamily="34" charset="0"/>
              </a:rPr>
              <a:t>Underperforming KPIs – </a:t>
            </a:r>
            <a:r>
              <a:rPr lang="en-US" sz="2000" b="1" dirty="0">
                <a:solidFill>
                  <a:srgbClr val="C00000"/>
                </a:solidFill>
                <a:latin typeface="Aptos Display" panose="020B0004020202020204" pitchFamily="34" charset="0"/>
              </a:rPr>
              <a:t>Revenue, TAU, TUSU</a:t>
            </a:r>
            <a:endParaRPr lang="en-IN" sz="2000" b="1" dirty="0">
              <a:solidFill>
                <a:srgbClr val="C00000"/>
              </a:solidFill>
              <a:latin typeface="Aptos Display" panose="020B0004020202020204" pitchFamily="34" charset="0"/>
            </a:endParaRPr>
          </a:p>
        </p:txBody>
      </p:sp>
      <p:pic>
        <p:nvPicPr>
          <p:cNvPr id="27" name="Picture 26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D36AAD2E-55DC-2E92-BB8A-320CE69ED3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5769" y="2340954"/>
            <a:ext cx="5245508" cy="3941859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333930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number&#10;&#10;AI-generated content may be incorrect.">
            <a:extLst>
              <a:ext uri="{FF2B5EF4-FFF2-40B4-BE49-F238E27FC236}">
                <a16:creationId xmlns:a16="http://schemas.microsoft.com/office/drawing/2014/main" id="{43F1C18C-20C2-FE07-2901-6590EF03FB3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2">
                <a:lumMod val="60000"/>
                <a:lumOff val="4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0516" y="736740"/>
            <a:ext cx="4715533" cy="7621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EE5638-898B-5754-C5C8-E4E830E893C7}"/>
              </a:ext>
            </a:extLst>
          </p:cNvPr>
          <p:cNvSpPr txBox="1"/>
          <p:nvPr/>
        </p:nvSpPr>
        <p:spPr>
          <a:xfrm>
            <a:off x="353961" y="181957"/>
            <a:ext cx="6105832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algn="just"/>
            <a:r>
              <a:rPr lang="en-IN" sz="2000" b="1" dirty="0">
                <a:solidFill>
                  <a:srgbClr val="FFFF00"/>
                </a:solidFill>
                <a:latin typeface="Aptos Display" panose="020B0004020202020204" pitchFamily="34" charset="0"/>
              </a:rPr>
              <a:t>👥 TAU – Total Active Users (Underperforming KPI)</a:t>
            </a:r>
          </a:p>
          <a:p>
            <a:pPr algn="just"/>
            <a:endParaRPr lang="en-IN" b="1" dirty="0">
              <a:solidFill>
                <a:srgbClr val="FFFF00"/>
              </a:solidFill>
              <a:latin typeface="Aptos Display" panose="020B00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2000" b="1" dirty="0">
                <a:latin typeface="Aptos Display" panose="020B0004020202020204" pitchFamily="34" charset="0"/>
              </a:rPr>
              <a:t>Before 5G:</a:t>
            </a:r>
            <a:r>
              <a:rPr lang="en-IN" sz="2000" dirty="0">
                <a:latin typeface="Aptos Display" panose="020B0004020202020204" pitchFamily="34" charset="0"/>
              </a:rPr>
              <a:t> 84.4 M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2000" b="1" dirty="0">
                <a:latin typeface="Aptos Display" panose="020B0004020202020204" pitchFamily="34" charset="0"/>
              </a:rPr>
              <a:t>After 5G:</a:t>
            </a:r>
            <a:r>
              <a:rPr lang="en-IN" sz="2000" dirty="0">
                <a:latin typeface="Aptos Display" panose="020B0004020202020204" pitchFamily="34" charset="0"/>
              </a:rPr>
              <a:t> 77.4 M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2000" b="1" dirty="0">
                <a:latin typeface="Aptos Display" panose="020B0004020202020204" pitchFamily="34" charset="0"/>
              </a:rPr>
              <a:t>Change:</a:t>
            </a:r>
            <a:r>
              <a:rPr lang="en-IN" sz="2000" dirty="0">
                <a:latin typeface="Aptos Display" panose="020B0004020202020204" pitchFamily="34" charset="0"/>
              </a:rPr>
              <a:t> </a:t>
            </a:r>
            <a:r>
              <a:rPr lang="en-IN" sz="2000" b="1" dirty="0">
                <a:highlight>
                  <a:srgbClr val="FF0000"/>
                </a:highlight>
                <a:latin typeface="Aptos Display" panose="020B0004020202020204" pitchFamily="34" charset="0"/>
              </a:rPr>
              <a:t>−8.28% (≈ 7M users lost)</a:t>
            </a:r>
          </a:p>
          <a:p>
            <a:pPr algn="just"/>
            <a:endParaRPr lang="en-IN" sz="2000" dirty="0">
              <a:latin typeface="Aptos Display" panose="020B00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rgbClr val="FFFF00"/>
                </a:solidFill>
                <a:latin typeface="Aptos Display" panose="020B0004020202020204" pitchFamily="34" charset="0"/>
              </a:rPr>
              <a:t>Insight: </a:t>
            </a:r>
            <a:r>
              <a:rPr lang="en-IN" sz="2000" dirty="0">
                <a:latin typeface="Aptos Display" panose="020B0004020202020204" pitchFamily="34" charset="0"/>
              </a:rPr>
              <a:t>Significant drop in active users after 5G launch.</a:t>
            </a:r>
          </a:p>
          <a:p>
            <a:pPr algn="just"/>
            <a:endParaRPr lang="en-IN" dirty="0">
              <a:latin typeface="Aptos Display" panose="020B00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rgbClr val="FFFF00"/>
                </a:solidFill>
                <a:latin typeface="Aptos Display" panose="020B0004020202020204" pitchFamily="34" charset="0"/>
              </a:rPr>
              <a:t>Major Decline Cities:</a:t>
            </a:r>
            <a:endParaRPr lang="en-IN" sz="2000" dirty="0">
              <a:solidFill>
                <a:srgbClr val="FFFF00"/>
              </a:solidFill>
              <a:latin typeface="Aptos Display" panose="020B0004020202020204" pitchFamily="34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Aptos Display" panose="020B0004020202020204" pitchFamily="34" charset="0"/>
              </a:rPr>
              <a:t>Ahmedabad (−18.93%)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Aptos Display" panose="020B0004020202020204" pitchFamily="34" charset="0"/>
              </a:rPr>
              <a:t>Delhi (−17.63%)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Aptos Display" panose="020B0004020202020204" pitchFamily="34" charset="0"/>
              </a:rPr>
              <a:t>Raipur (−16.67%)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Aptos Display" panose="020B0004020202020204" pitchFamily="34" charset="0"/>
              </a:rPr>
              <a:t>Patna (−16.11%)</a:t>
            </a:r>
          </a:p>
          <a:p>
            <a:pPr lvl="1" algn="just"/>
            <a:endParaRPr lang="en-IN" dirty="0">
              <a:latin typeface="Aptos Display" panose="020B00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rgbClr val="FFFF00"/>
                </a:solidFill>
                <a:latin typeface="Aptos Display" panose="020B0004020202020204" pitchFamily="34" charset="0"/>
              </a:rPr>
              <a:t>Cities with Growth:</a:t>
            </a:r>
            <a:endParaRPr lang="en-IN" sz="2000" dirty="0">
              <a:solidFill>
                <a:srgbClr val="FFFF00"/>
              </a:solidFill>
              <a:latin typeface="Aptos Display" panose="020B0004020202020204" pitchFamily="34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Aptos Display" panose="020B0004020202020204" pitchFamily="34" charset="0"/>
              </a:rPr>
              <a:t>Pune (+18.06%)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Aptos Display" panose="020B0004020202020204" pitchFamily="34" charset="0"/>
              </a:rPr>
              <a:t>Lucknow (+2.65%)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Aptos Display" panose="020B0004020202020204" pitchFamily="34" charset="0"/>
              </a:rPr>
              <a:t>Chennai (+0.35%)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</p:txBody>
      </p:sp>
      <p:pic>
        <p:nvPicPr>
          <p:cNvPr id="8" name="Picture 7" descr="A graph of blue squares with black text&#10;&#10;AI-generated content may be incorrect.">
            <a:extLst>
              <a:ext uri="{FF2B5EF4-FFF2-40B4-BE49-F238E27FC236}">
                <a16:creationId xmlns:a16="http://schemas.microsoft.com/office/drawing/2014/main" id="{9CDCEAAD-30E4-578C-8CA7-D53510541B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452" y="2964426"/>
            <a:ext cx="6823587" cy="3421626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209717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close up of a number&#10;&#10;AI-generated content may be incorrect.">
            <a:extLst>
              <a:ext uri="{FF2B5EF4-FFF2-40B4-BE49-F238E27FC236}">
                <a16:creationId xmlns:a16="http://schemas.microsoft.com/office/drawing/2014/main" id="{FD305F3C-CB51-3A14-5429-3783717680C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2">
                <a:lumMod val="60000"/>
                <a:lumOff val="4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0735" y="515032"/>
            <a:ext cx="4734586" cy="72400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80CDB16-034F-B6BC-F10E-FB4D39623A87}"/>
              </a:ext>
            </a:extLst>
          </p:cNvPr>
          <p:cNvSpPr txBox="1"/>
          <p:nvPr/>
        </p:nvSpPr>
        <p:spPr>
          <a:xfrm>
            <a:off x="309716" y="507701"/>
            <a:ext cx="5324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🚪 </a:t>
            </a:r>
            <a:r>
              <a:rPr lang="en-US" dirty="0">
                <a:solidFill>
                  <a:srgbClr val="FFFF00"/>
                </a:solidFill>
                <a:latin typeface="Franklin Gothic Heavy" panose="020B0903020102020204" pitchFamily="34" charset="0"/>
              </a:rPr>
              <a:t>TUSU(Total Unsubscribed Users) - Increased</a:t>
            </a:r>
            <a:endParaRPr lang="en-IN" dirty="0">
              <a:solidFill>
                <a:srgbClr val="FFFF00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076BEF4-A3B5-DF6F-2660-A811BDAF2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478" y="1095592"/>
            <a:ext cx="6297562" cy="5254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Before 5G: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 5.6 M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After 5G: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 7.0 M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Change: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ptos Display" panose="020B0004020202020204" pitchFamily="34" charset="0"/>
              </a:rPr>
              <a:t>+23.5%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ptos Display" panose="020B0004020202020204" pitchFamily="34" charset="0"/>
              </a:rPr>
              <a:t>Insight: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Sharp increase in customer unsubscriptions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latin typeface="Aptos Display" panose="020B0004020202020204" pitchFamily="34" charset="0"/>
              </a:rPr>
              <a:t>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 post-5G.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ptos Display" panose="020B0004020202020204" pitchFamily="34" charset="0"/>
              </a:rPr>
              <a:t>High Unsubscription Cities: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Aptos Display" panose="020B00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2000" dirty="0">
                <a:latin typeface="Aptos Display" panose="020B0004020202020204" pitchFamily="34" charset="0"/>
              </a:rPr>
              <a:t>Lucknow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ptos Display" panose="020B0004020202020204" pitchFamily="34" charset="0"/>
              </a:rPr>
              <a:t>(+77.91%)</a:t>
            </a:r>
          </a:p>
          <a:p>
            <a:pPr marL="34290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Pune (+55.30%)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Jaipur (+52.47%)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Chandigarh (+45.63%)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ptos Display" panose="020B0004020202020204" pitchFamily="34" charset="0"/>
              </a:rPr>
              <a:t>Overall Conclusion : </a:t>
            </a:r>
            <a:r>
              <a:rPr lang="en-US" sz="2000" dirty="0">
                <a:latin typeface="Aptos Display" panose="020B0004020202020204" pitchFamily="34" charset="0"/>
              </a:rPr>
              <a:t>Revenue remained stable, but user retention weakened after 5G, making TAU the most impacted KPI.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 descr="A graph with numbers and percentages&#10;&#10;AI-generated content may be incorrect.">
            <a:extLst>
              <a:ext uri="{FF2B5EF4-FFF2-40B4-BE49-F238E27FC236}">
                <a16:creationId xmlns:a16="http://schemas.microsoft.com/office/drawing/2014/main" id="{A7B45222-43D4-D0AE-FB88-E370F0BE54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9070" y="1681317"/>
            <a:ext cx="5776451" cy="492596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426188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7B237C-6D96-C9D9-BEA7-5B6C509D94EC}"/>
              </a:ext>
            </a:extLst>
          </p:cNvPr>
          <p:cNvSpPr txBox="1"/>
          <p:nvPr/>
        </p:nvSpPr>
        <p:spPr>
          <a:xfrm>
            <a:off x="299882" y="412955"/>
            <a:ext cx="1160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ptos Display" panose="020B0004020202020204" pitchFamily="34" charset="0"/>
              </a:rPr>
              <a:t>3.After the 5G launch, which plans are performing well in terms of revenue? Which plans are not performing well?</a:t>
            </a:r>
            <a:endParaRPr lang="en-IN" sz="2400" b="1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219442-1B83-136C-BF36-19D94B6BB59C}"/>
              </a:ext>
            </a:extLst>
          </p:cNvPr>
          <p:cNvSpPr txBox="1"/>
          <p:nvPr/>
        </p:nvSpPr>
        <p:spPr>
          <a:xfrm>
            <a:off x="299882" y="1243952"/>
            <a:ext cx="11602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FF00"/>
                </a:solidFill>
                <a:latin typeface="Aptos Display" panose="020B0004020202020204" pitchFamily="34" charset="0"/>
              </a:rPr>
              <a:t>Plan Performing  Well After 5G Launch – P1</a:t>
            </a:r>
            <a:endParaRPr lang="en-IN" sz="2000" b="1" dirty="0">
              <a:solidFill>
                <a:srgbClr val="FFFF00"/>
              </a:solidFill>
              <a:latin typeface="Aptos Display" panose="020B0004020202020204" pitchFamily="34" charset="0"/>
            </a:endParaRPr>
          </a:p>
        </p:txBody>
      </p:sp>
      <p:pic>
        <p:nvPicPr>
          <p:cNvPr id="5" name="Picture 4" descr="A rectangle with black text&#10;&#10;AI-generated content may be incorrect.">
            <a:extLst>
              <a:ext uri="{FF2B5EF4-FFF2-40B4-BE49-F238E27FC236}">
                <a16:creationId xmlns:a16="http://schemas.microsoft.com/office/drawing/2014/main" id="{6247B05C-0386-10EB-FA24-284DF9D9EC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329" y="1954267"/>
            <a:ext cx="9188245" cy="1967521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8" name="Picture 7" descr="A screenshot of a phone&#10;&#10;AI-generated content may be incorrect.">
            <a:extLst>
              <a:ext uri="{FF2B5EF4-FFF2-40B4-BE49-F238E27FC236}">
                <a16:creationId xmlns:a16="http://schemas.microsoft.com/office/drawing/2014/main" id="{52FBC9AD-6396-D76F-ADDF-DE0D264A29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329" y="5132440"/>
            <a:ext cx="9188245" cy="1519084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C3423C8-D633-5D64-4524-97B6302AC832}"/>
              </a:ext>
            </a:extLst>
          </p:cNvPr>
          <p:cNvSpPr txBox="1"/>
          <p:nvPr/>
        </p:nvSpPr>
        <p:spPr>
          <a:xfrm>
            <a:off x="1445341" y="4327059"/>
            <a:ext cx="94242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ptos Display" panose="020B0004020202020204" pitchFamily="34" charset="0"/>
              </a:rPr>
              <a:t>Revenue for Plan </a:t>
            </a:r>
            <a:r>
              <a:rPr lang="en-US" sz="2000" dirty="0">
                <a:highlight>
                  <a:srgbClr val="FF0000"/>
                </a:highlight>
                <a:latin typeface="Aptos Display" panose="020B0004020202020204" pitchFamily="34" charset="0"/>
              </a:rPr>
              <a:t>P1</a:t>
            </a:r>
            <a:r>
              <a:rPr lang="en-US" sz="2000" dirty="0">
                <a:latin typeface="Aptos Display" panose="020B0004020202020204" pitchFamily="34" charset="0"/>
              </a:rPr>
              <a:t> increased around </a:t>
            </a:r>
            <a:r>
              <a:rPr lang="en-US" sz="2000" dirty="0">
                <a:highlight>
                  <a:srgbClr val="FF0000"/>
                </a:highlight>
                <a:latin typeface="Aptos Display" panose="020B0004020202020204" pitchFamily="34" charset="0"/>
              </a:rPr>
              <a:t>31.66% </a:t>
            </a:r>
            <a:r>
              <a:rPr lang="en-US" sz="2000" dirty="0">
                <a:latin typeface="Aptos Display" panose="020B0004020202020204" pitchFamily="34" charset="0"/>
              </a:rPr>
              <a:t>after 5G launch</a:t>
            </a:r>
            <a:endParaRPr lang="en-IN" sz="20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855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9982F48-E09F-FC23-253C-A0DD508E38B2}"/>
              </a:ext>
            </a:extLst>
          </p:cNvPr>
          <p:cNvSpPr txBox="1"/>
          <p:nvPr/>
        </p:nvSpPr>
        <p:spPr>
          <a:xfrm>
            <a:off x="1356851" y="217874"/>
            <a:ext cx="92177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FFFF00"/>
                </a:solidFill>
                <a:latin typeface="Aptos Display" panose="020B0004020202020204" pitchFamily="34" charset="0"/>
              </a:rPr>
              <a:t>Plans Not  Performing  Well After 5G Launch – P4, P5, P6, P7</a:t>
            </a:r>
            <a:endParaRPr lang="en-IN" sz="2000" b="1" dirty="0">
              <a:solidFill>
                <a:srgbClr val="FFFF00"/>
              </a:solidFill>
              <a:latin typeface="Aptos Display" panose="020B0004020202020204" pitchFamily="34" charset="0"/>
            </a:endParaRPr>
          </a:p>
        </p:txBody>
      </p:sp>
      <p:pic>
        <p:nvPicPr>
          <p:cNvPr id="7" name="Picture 6" descr="A white and purple card with black text&#10;&#10;AI-generated content may be incorrect.">
            <a:extLst>
              <a:ext uri="{FF2B5EF4-FFF2-40B4-BE49-F238E27FC236}">
                <a16:creationId xmlns:a16="http://schemas.microsoft.com/office/drawing/2014/main" id="{22EA8A22-8686-DE62-4CC3-9200155CCE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01" y="1362932"/>
            <a:ext cx="5430080" cy="2029293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9" name="Picture 8" descr="A screenshot of a phone&#10;&#10;AI-generated content may be incorrect.">
            <a:extLst>
              <a:ext uri="{FF2B5EF4-FFF2-40B4-BE49-F238E27FC236}">
                <a16:creationId xmlns:a16="http://schemas.microsoft.com/office/drawing/2014/main" id="{D7B5B8A6-9DDB-83AF-FBFC-FD01B54156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5722" y="1362931"/>
            <a:ext cx="5992976" cy="2029293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1" name="Picture 10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7E364928-1E57-B0E7-ABE0-8C77567BA7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01" y="4370453"/>
            <a:ext cx="5430080" cy="216031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3" name="Picture 12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3EF68B40-FFDC-E8AC-4271-40203560BA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5722" y="4370453"/>
            <a:ext cx="5992976" cy="216031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68C420B-A17A-0073-443E-71815EE1F00A}"/>
              </a:ext>
            </a:extLst>
          </p:cNvPr>
          <p:cNvSpPr txBox="1"/>
          <p:nvPr/>
        </p:nvSpPr>
        <p:spPr>
          <a:xfrm>
            <a:off x="233301" y="3583859"/>
            <a:ext cx="5430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latin typeface="Aptos Display" panose="020B0004020202020204" pitchFamily="34" charset="0"/>
              </a:rPr>
              <a:t>Revenue for Plan </a:t>
            </a:r>
            <a:r>
              <a:rPr lang="en-US" sz="1800" dirty="0">
                <a:highlight>
                  <a:srgbClr val="FF0000"/>
                </a:highlight>
                <a:latin typeface="Aptos Display" panose="020B0004020202020204" pitchFamily="34" charset="0"/>
              </a:rPr>
              <a:t>P6</a:t>
            </a:r>
            <a:r>
              <a:rPr lang="en-US" sz="1800" dirty="0">
                <a:latin typeface="Aptos Display" panose="020B0004020202020204" pitchFamily="34" charset="0"/>
              </a:rPr>
              <a:t> Declined around </a:t>
            </a:r>
            <a:r>
              <a:rPr lang="en-US" sz="1800" dirty="0">
                <a:highlight>
                  <a:srgbClr val="FF0000"/>
                </a:highlight>
                <a:latin typeface="Aptos Display" panose="020B0004020202020204" pitchFamily="34" charset="0"/>
              </a:rPr>
              <a:t>33.97% </a:t>
            </a:r>
            <a:r>
              <a:rPr lang="en-US" sz="1800" dirty="0">
                <a:latin typeface="Aptos Display" panose="020B0004020202020204" pitchFamily="34" charset="0"/>
              </a:rPr>
              <a:t>after 5G launch</a:t>
            </a:r>
            <a:endParaRPr lang="en-IN" sz="1800" dirty="0">
              <a:latin typeface="Aptos Display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84B09E-6221-FE28-76DD-EA31B27EBC61}"/>
              </a:ext>
            </a:extLst>
          </p:cNvPr>
          <p:cNvSpPr txBox="1"/>
          <p:nvPr/>
        </p:nvSpPr>
        <p:spPr>
          <a:xfrm>
            <a:off x="5965722" y="3722358"/>
            <a:ext cx="599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latin typeface="Aptos Display" panose="020B0004020202020204" pitchFamily="34" charset="0"/>
              </a:rPr>
              <a:t>Revenue for Plan </a:t>
            </a:r>
            <a:r>
              <a:rPr lang="en-US" sz="1800" dirty="0">
                <a:highlight>
                  <a:srgbClr val="FF0000"/>
                </a:highlight>
                <a:latin typeface="Aptos Display" panose="020B0004020202020204" pitchFamily="34" charset="0"/>
              </a:rPr>
              <a:t>P7</a:t>
            </a:r>
            <a:r>
              <a:rPr lang="en-US" sz="1800" dirty="0">
                <a:latin typeface="Aptos Display" panose="020B0004020202020204" pitchFamily="34" charset="0"/>
              </a:rPr>
              <a:t> Declined around </a:t>
            </a:r>
            <a:r>
              <a:rPr lang="en-US" dirty="0">
                <a:highlight>
                  <a:srgbClr val="FF0000"/>
                </a:highlight>
                <a:latin typeface="Aptos Display" panose="020B0004020202020204" pitchFamily="34" charset="0"/>
              </a:rPr>
              <a:t>73.28</a:t>
            </a:r>
            <a:r>
              <a:rPr lang="en-US" sz="1800" dirty="0">
                <a:highlight>
                  <a:srgbClr val="FF0000"/>
                </a:highlight>
                <a:latin typeface="Aptos Display" panose="020B0004020202020204" pitchFamily="34" charset="0"/>
              </a:rPr>
              <a:t>% </a:t>
            </a:r>
            <a:r>
              <a:rPr lang="en-US" sz="1800" dirty="0">
                <a:latin typeface="Aptos Display" panose="020B0004020202020204" pitchFamily="34" charset="0"/>
              </a:rPr>
              <a:t>after 5G launch</a:t>
            </a:r>
            <a:endParaRPr lang="en-IN" sz="1800" dirty="0">
              <a:latin typeface="Aptos Display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87C478-3454-5FB4-8CBE-693DFFC46857}"/>
              </a:ext>
            </a:extLst>
          </p:cNvPr>
          <p:cNvSpPr txBox="1"/>
          <p:nvPr/>
        </p:nvSpPr>
        <p:spPr>
          <a:xfrm>
            <a:off x="233301" y="661895"/>
            <a:ext cx="5430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latin typeface="Aptos Display" panose="020B0004020202020204" pitchFamily="34" charset="0"/>
              </a:rPr>
              <a:t>Revenue for Plan </a:t>
            </a:r>
            <a:r>
              <a:rPr lang="en-US" sz="1800" dirty="0">
                <a:highlight>
                  <a:srgbClr val="FF0000"/>
                </a:highlight>
                <a:latin typeface="Aptos Display" panose="020B0004020202020204" pitchFamily="34" charset="0"/>
              </a:rPr>
              <a:t>P4</a:t>
            </a:r>
            <a:r>
              <a:rPr lang="en-US" sz="1800" dirty="0">
                <a:latin typeface="Aptos Display" panose="020B0004020202020204" pitchFamily="34" charset="0"/>
              </a:rPr>
              <a:t> Declined  around </a:t>
            </a:r>
            <a:r>
              <a:rPr lang="en-US" dirty="0">
                <a:highlight>
                  <a:srgbClr val="FF0000"/>
                </a:highlight>
                <a:latin typeface="Aptos Display" panose="020B0004020202020204" pitchFamily="34" charset="0"/>
              </a:rPr>
              <a:t>18.47</a:t>
            </a:r>
            <a:r>
              <a:rPr lang="en-US" sz="1800" dirty="0">
                <a:highlight>
                  <a:srgbClr val="FF0000"/>
                </a:highlight>
                <a:latin typeface="Aptos Display" panose="020B0004020202020204" pitchFamily="34" charset="0"/>
              </a:rPr>
              <a:t>% </a:t>
            </a:r>
            <a:r>
              <a:rPr lang="en-US" sz="1800" dirty="0">
                <a:latin typeface="Aptos Display" panose="020B0004020202020204" pitchFamily="34" charset="0"/>
              </a:rPr>
              <a:t>after 5G launch</a:t>
            </a:r>
            <a:endParaRPr lang="en-IN" sz="1800" dirty="0">
              <a:latin typeface="Aptos Display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DF4ACC-036A-CC90-8715-34084520CA69}"/>
              </a:ext>
            </a:extLst>
          </p:cNvPr>
          <p:cNvSpPr txBox="1"/>
          <p:nvPr/>
        </p:nvSpPr>
        <p:spPr>
          <a:xfrm>
            <a:off x="5965722" y="800394"/>
            <a:ext cx="599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latin typeface="Aptos Display" panose="020B0004020202020204" pitchFamily="34" charset="0"/>
              </a:rPr>
              <a:t>Revenue for Plan </a:t>
            </a:r>
            <a:r>
              <a:rPr lang="en-US" sz="1800" dirty="0">
                <a:highlight>
                  <a:srgbClr val="FF0000"/>
                </a:highlight>
                <a:latin typeface="Aptos Display" panose="020B0004020202020204" pitchFamily="34" charset="0"/>
              </a:rPr>
              <a:t>P5</a:t>
            </a:r>
            <a:r>
              <a:rPr lang="en-US" sz="1800" dirty="0">
                <a:latin typeface="Aptos Display" panose="020B0004020202020204" pitchFamily="34" charset="0"/>
              </a:rPr>
              <a:t> </a:t>
            </a:r>
            <a:r>
              <a:rPr lang="en-US" dirty="0">
                <a:latin typeface="Aptos Display" panose="020B0004020202020204" pitchFamily="34" charset="0"/>
              </a:rPr>
              <a:t>Declined </a:t>
            </a:r>
            <a:r>
              <a:rPr lang="en-US" sz="1800" dirty="0">
                <a:latin typeface="Aptos Display" panose="020B0004020202020204" pitchFamily="34" charset="0"/>
              </a:rPr>
              <a:t>around </a:t>
            </a:r>
            <a:r>
              <a:rPr lang="en-US" sz="1800" dirty="0">
                <a:highlight>
                  <a:srgbClr val="FF0000"/>
                </a:highlight>
                <a:latin typeface="Aptos Display" panose="020B0004020202020204" pitchFamily="34" charset="0"/>
              </a:rPr>
              <a:t>35.15% </a:t>
            </a:r>
            <a:r>
              <a:rPr lang="en-US" sz="1800" dirty="0">
                <a:latin typeface="Aptos Display" panose="020B0004020202020204" pitchFamily="34" charset="0"/>
              </a:rPr>
              <a:t>after 5G launch</a:t>
            </a:r>
            <a:endParaRPr lang="en-IN" sz="18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725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3A521F-1500-7744-20A0-96EBA83BD414}"/>
              </a:ext>
            </a:extLst>
          </p:cNvPr>
          <p:cNvSpPr txBox="1"/>
          <p:nvPr/>
        </p:nvSpPr>
        <p:spPr>
          <a:xfrm>
            <a:off x="292510" y="324465"/>
            <a:ext cx="116069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ptos Display" panose="020B0004020202020204" pitchFamily="34" charset="0"/>
              </a:rPr>
              <a:t>4.Is there any plan affected largely by the 5G launch? Should we continue or discontinue that plan?</a:t>
            </a:r>
            <a:endParaRPr lang="en-IN" sz="2400" b="1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0D8485-3D09-5C84-F44A-31B08F15F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510" y="1422057"/>
            <a:ext cx="7890387" cy="4662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ptos Display" panose="020B0004020202020204" pitchFamily="34" charset="0"/>
              </a:rPr>
              <a:t>🚨 Most Affected Plan – P7: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1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25 GB Combo 3G / 4G Data Pack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ptos Display" panose="020B00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Revenue Before 5G: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 ₹582.4M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Revenue After 5G: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 ₹155.6M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Revenue Decline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ptos Display" panose="020B000402020202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ptos Display" panose="020B00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ptos Display" panose="020B0004020202020204" pitchFamily="34" charset="0"/>
              </a:rPr>
              <a:t>−73.28%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0000"/>
              </a:highlight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ptos Display" panose="020B0004020202020204" pitchFamily="34" charset="0"/>
              </a:rPr>
              <a:t>Key Insight: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The 5G launch significantly reduced demand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for legacy 3G/4G data plans, as customers shifted toward high-speed 5G-enabled offerings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ptos Display" panose="020B0004020202020204" pitchFamily="34" charset="0"/>
              </a:rPr>
              <a:t>Recommendation: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Discontinue or redesign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ptos Display" panose="020B0004020202020204" pitchFamily="34" charset="0"/>
              </a:rPr>
              <a:t>Plan P7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ptos Display" panose="020B00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by upgrading it to a 5G-compatible plan or replacing it with a higher-value data bundle.</a:t>
            </a:r>
          </a:p>
        </p:txBody>
      </p:sp>
      <p:pic>
        <p:nvPicPr>
          <p:cNvPr id="6" name="Picture 5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EC34FF39-373E-3692-4CCD-395F49277F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111" y="1637085"/>
            <a:ext cx="7192379" cy="1991003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145823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DBD46F-E7DD-1EEA-9F35-E29FC5DAAEA1}"/>
              </a:ext>
            </a:extLst>
          </p:cNvPr>
          <p:cNvSpPr txBox="1"/>
          <p:nvPr/>
        </p:nvSpPr>
        <p:spPr>
          <a:xfrm>
            <a:off x="309717" y="427702"/>
            <a:ext cx="111889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ptos Display" panose="020B0004020202020204" pitchFamily="34" charset="0"/>
              </a:rPr>
              <a:t>5.Is there any plan that is discontinued after the 5G launch? What is the reason for it?</a:t>
            </a:r>
            <a:endParaRPr lang="en-IN" sz="2400" b="1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B3181E-19F2-929C-3B7D-749874B1C2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056" y="1032386"/>
            <a:ext cx="6563641" cy="1682362"/>
          </a:xfrm>
          <a:prstGeom prst="rect">
            <a:avLst/>
          </a:prstGeom>
        </p:spPr>
      </p:pic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214F1DBA-4F32-914F-908B-01BAC9D4F0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477" y="2986014"/>
            <a:ext cx="6563641" cy="1682362"/>
          </a:xfrm>
          <a:prstGeom prst="rect">
            <a:avLst/>
          </a:prstGeom>
        </p:spPr>
      </p:pic>
      <p:pic>
        <p:nvPicPr>
          <p:cNvPr id="8" name="Picture 7" descr="A close up of a number&#10;&#10;AI-generated content may be incorrect.">
            <a:extLst>
              <a:ext uri="{FF2B5EF4-FFF2-40B4-BE49-F238E27FC236}">
                <a16:creationId xmlns:a16="http://schemas.microsoft.com/office/drawing/2014/main" id="{340DF862-034F-0B13-D3F7-E278B78DE7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17" y="4911214"/>
            <a:ext cx="6535062" cy="1682362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31D32F5C-C9F1-D002-1B99-6E5A0E21B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4643" y="1282939"/>
            <a:ext cx="4873301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ptos Display" panose="020B0004020202020204" pitchFamily="34" charset="0"/>
              </a:rPr>
              <a:t>Revenue only before 5G: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₹434.3M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ptos Display" panose="020B0004020202020204" pitchFamily="34" charset="0"/>
              </a:rPr>
              <a:t>No revenue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after 5G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ptos Display" panose="020B0004020202020204" pitchFamily="34" charset="0"/>
              </a:rPr>
              <a:t>Indicates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ptos Display" panose="020B0004020202020204" pitchFamily="34" charset="0"/>
              </a:rPr>
              <a:t>complete drop in demand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post-5G due to very low data offering.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ECF86681-5FC2-23AF-754F-E4500B686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9225" y="3154957"/>
            <a:ext cx="48733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ptos Display" panose="020B0004020202020204" pitchFamily="34" charset="0"/>
              </a:rPr>
              <a:t>Revenue only before 5G: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₹226.8M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ptos Display" panose="020B0004020202020204" pitchFamily="34" charset="0"/>
              </a:rPr>
              <a:t>No revenue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after 5G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Low data and voice-focused plan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ptos Display" panose="020B0004020202020204" pitchFamily="34" charset="0"/>
              </a:rPr>
              <a:t>not aligned with 5G usage patterns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ptos Display" panose="020B0004020202020204" pitchFamily="34" charset="0"/>
              </a:rPr>
              <a:t>.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78FB7107-35F7-52F3-9F4B-52790A1EA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9224" y="5006616"/>
            <a:ext cx="441945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ptos Display" panose="020B0004020202020204" pitchFamily="34" charset="0"/>
              </a:rPr>
              <a:t>Revenue only before 5G: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₹131.1M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ptos Display" panose="020B0004020202020204" pitchFamily="34" charset="0"/>
              </a:rPr>
              <a:t>No revenue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after 5G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Short validity and limited relevance in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ptos Display" panose="020B0004020202020204" pitchFamily="34" charset="0"/>
              </a:rPr>
              <a:t>post-5G high-usage market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07271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1CE6B7-A0FB-9F51-3FB2-62C59AF44B6D}"/>
              </a:ext>
            </a:extLst>
          </p:cNvPr>
          <p:cNvSpPr txBox="1"/>
          <p:nvPr/>
        </p:nvSpPr>
        <p:spPr>
          <a:xfrm>
            <a:off x="634180" y="2705725"/>
            <a:ext cx="5461820" cy="1446550"/>
          </a:xfrm>
          <a:prstGeom prst="rect">
            <a:avLst/>
          </a:prstGeom>
          <a:noFill/>
        </p:spPr>
        <p:txBody>
          <a:bodyPr wrap="square" rtlCol="0">
            <a:prstTxWarp prst="textPlain">
              <a:avLst/>
            </a:prstTxWarp>
            <a:spAutoFit/>
            <a:scene3d>
              <a:camera prst="isometricOffAxis1Right"/>
              <a:lightRig rig="threePt" dir="t"/>
            </a:scene3d>
          </a:bodyPr>
          <a:lstStyle/>
          <a:p>
            <a:r>
              <a:rPr lang="en-US" sz="8800" dirty="0">
                <a:effectLst>
                  <a:reflection blurRad="6350" stA="55000" endA="300" endPos="45500" dir="5400000" sy="-100000" algn="bl" rotWithShape="0"/>
                </a:effectLst>
                <a:latin typeface="Bernard MT Condensed" panose="02050806060905020404" pitchFamily="18" charset="0"/>
              </a:rPr>
              <a:t>Thank You</a:t>
            </a:r>
            <a:endParaRPr lang="en-IN" sz="8800" dirty="0">
              <a:effectLst>
                <a:reflection blurRad="6350" stA="55000" endA="300" endPos="45500" dir="5400000" sy="-100000" algn="bl" rotWithShape="0"/>
              </a:effectLst>
              <a:latin typeface="Bernard MT Condensed" panose="02050806060905020404" pitchFamily="18" charset="0"/>
            </a:endParaRPr>
          </a:p>
        </p:txBody>
      </p:sp>
      <p:pic>
        <p:nvPicPr>
          <p:cNvPr id="8" name="Picture 7" descr="A group of people standing around a sign&#10;&#10;AI-generated content may be incorrect.">
            <a:extLst>
              <a:ext uri="{FF2B5EF4-FFF2-40B4-BE49-F238E27FC236}">
                <a16:creationId xmlns:a16="http://schemas.microsoft.com/office/drawing/2014/main" id="{854768E9-895D-AB47-0DFA-C490085AE1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1303" y="1472995"/>
            <a:ext cx="5574891" cy="371843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093593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5662</TotalTime>
  <Words>848</Words>
  <Application>Microsoft Office PowerPoint</Application>
  <PresentationFormat>Widescreen</PresentationFormat>
  <Paragraphs>139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Aptos Display</vt:lpstr>
      <vt:lpstr>Arial</vt:lpstr>
      <vt:lpstr>Arial Black</vt:lpstr>
      <vt:lpstr>Arial Rounded MT Bold</vt:lpstr>
      <vt:lpstr>Bernard MT Condensed</vt:lpstr>
      <vt:lpstr>Century Gothic</vt:lpstr>
      <vt:lpstr>Franklin Gothic Heavy</vt:lpstr>
      <vt:lpstr>Wingdings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Deepthi T</dc:creator>
  <cp:lastModifiedBy>Deepthi T</cp:lastModifiedBy>
  <cp:revision>101</cp:revision>
  <dcterms:created xsi:type="dcterms:W3CDTF">2026-01-12T14:03:28Z</dcterms:created>
  <dcterms:modified xsi:type="dcterms:W3CDTF">2026-01-16T12:36:31Z</dcterms:modified>
</cp:coreProperties>
</file>